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348A82D-4D89-8CE1-7978-2DD052DD8D6F}" v="84" dt="2025-11-21T20:54:28.29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21/11/2025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21/11/2025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21/11/2025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21/11/2025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21/11/2025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21/11/2025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21/11/2025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21/11/2025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21/11/2025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21/11/2025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21/11/2025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GB" smtClean="0"/>
              <a:t>21/11/2025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B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08982" y="1841232"/>
            <a:ext cx="9560943" cy="3422769"/>
          </a:xfr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GB" sz="4000" b="1" dirty="0">
                <a:solidFill>
                  <a:srgbClr val="0F1115"/>
                </a:solidFill>
                <a:ea typeface="+mj-lt"/>
                <a:cs typeface="+mj-lt"/>
              </a:rPr>
              <a:t>Title:</a:t>
            </a:r>
            <a:r>
              <a:rPr lang="en-GB" sz="4000" dirty="0">
                <a:solidFill>
                  <a:srgbClr val="0F1115"/>
                </a:solidFill>
                <a:ea typeface="+mj-lt"/>
                <a:cs typeface="+mj-lt"/>
              </a:rPr>
              <a:t> CMCS Claims System - Part 3 </a:t>
            </a:r>
            <a:br>
              <a:rPr lang="en-GB" sz="4000" dirty="0">
                <a:ea typeface="+mj-lt"/>
                <a:cs typeface="+mj-lt"/>
              </a:rPr>
            </a:br>
            <a:r>
              <a:rPr lang="en-GB" sz="4000" dirty="0">
                <a:solidFill>
                  <a:srgbClr val="0F1115"/>
                </a:solidFill>
                <a:ea typeface="+mj-lt"/>
                <a:cs typeface="+mj-lt"/>
              </a:rPr>
              <a:t>Presented by: Mukhethwa </a:t>
            </a:r>
            <a:r>
              <a:rPr lang="en-GB" sz="4000" dirty="0" err="1">
                <a:solidFill>
                  <a:srgbClr val="0F1115"/>
                </a:solidFill>
                <a:ea typeface="+mj-lt"/>
                <a:cs typeface="+mj-lt"/>
              </a:rPr>
              <a:t>Murivhula</a:t>
            </a:r>
            <a:br>
              <a:rPr lang="en-GB" sz="4000" dirty="0">
                <a:ea typeface="+mj-lt"/>
                <a:cs typeface="+mj-lt"/>
              </a:rPr>
            </a:br>
            <a:r>
              <a:rPr lang="en-GB" sz="4000" dirty="0">
                <a:solidFill>
                  <a:srgbClr val="0F1115"/>
                </a:solidFill>
                <a:ea typeface="+mj-lt"/>
                <a:cs typeface="+mj-lt"/>
              </a:rPr>
              <a:t>Date: 21 November 2025</a:t>
            </a:r>
            <a:endParaRPr lang="en-GB" sz="4000" dirty="0"/>
          </a:p>
          <a:p>
            <a:endParaRPr lang="en-GB" sz="2000" b="1" dirty="0">
              <a:solidFill>
                <a:srgbClr val="0F1115"/>
              </a:solidFill>
              <a:latin typeface="Aptos Display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3B143B-76EE-8448-51FB-CCA00FB90C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GB" dirty="0">
                <a:ea typeface="+mn-lt"/>
                <a:cs typeface="+mn-lt"/>
              </a:rPr>
              <a:t>From Part 2 to Part 3, I improved the system by adding user login, roles, and stronger security with sessions. I introduced an HR Super User role and connected the app to a Microsoft SQL Management System database using Entity Framework Core. User profiles now load automatically, and the system can generate reports. I also added proper role-based access to control what each user can do.</a:t>
            </a:r>
            <a:endParaRPr lang="en-GB" dirty="0"/>
          </a:p>
          <a:p>
            <a:r>
              <a:rPr lang="en-GB" dirty="0">
                <a:ea typeface="+mn-lt"/>
                <a:cs typeface="+mn-lt"/>
              </a:rPr>
              <a:t>The project uses ASP.NET Core MVC, EF Core, SQL , session management, Bootstrap 5, and file encryption.</a:t>
            </a:r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07864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computer screen shot of a computer&#10;&#10;AI-generated content may be incorrect.">
            <a:extLst>
              <a:ext uri="{FF2B5EF4-FFF2-40B4-BE49-F238E27FC236}">
                <a16:creationId xmlns:a16="http://schemas.microsoft.com/office/drawing/2014/main" id="{05693153-BCF4-A272-52C8-A607B559561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48000" y="2285950"/>
            <a:ext cx="6096000" cy="3430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84166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5300ED-49D5-8174-EF3D-B5C054B00A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Snippet of my Login View Model</a:t>
            </a:r>
          </a:p>
        </p:txBody>
      </p:sp>
      <p:pic>
        <p:nvPicPr>
          <p:cNvPr id="4" name="Content Placeholder 3" descr="A computer screen shot of a program&#10;&#10;AI-generated content may be incorrect.">
            <a:extLst>
              <a:ext uri="{FF2B5EF4-FFF2-40B4-BE49-F238E27FC236}">
                <a16:creationId xmlns:a16="http://schemas.microsoft.com/office/drawing/2014/main" id="{3C540EA0-B6A6-3B4D-F3EE-995E47EF699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48000" y="2555184"/>
            <a:ext cx="6096000" cy="2892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82552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A9E1FA-3166-A53D-D6AD-F2AB9AB5AC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41C63B-D8B2-E759-7393-C90C1BE413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55000" lnSpcReduction="20000"/>
          </a:bodyPr>
          <a:lstStyle/>
          <a:p>
            <a:r>
              <a:rPr lang="en-GB" sz="1700" b="1" dirty="0">
                <a:solidFill>
                  <a:srgbClr val="0F1115"/>
                </a:solidFill>
              </a:rPr>
              <a:t>Slide 6: Lecturer View Enhancements</a:t>
            </a:r>
            <a:endParaRPr lang="en-GB" dirty="0"/>
          </a:p>
          <a:p>
            <a:r>
              <a:rPr lang="en-GB" sz="1200" b="1" dirty="0">
                <a:solidFill>
                  <a:srgbClr val="0F1115"/>
                </a:solidFill>
                <a:ea typeface="+mn-lt"/>
                <a:cs typeface="+mn-lt"/>
              </a:rPr>
              <a:t>Before (Part 2):</a:t>
            </a:r>
            <a:endParaRPr lang="en-GB" dirty="0"/>
          </a:p>
          <a:p>
            <a:r>
              <a:rPr lang="en-GB" sz="1200" dirty="0">
                <a:solidFill>
                  <a:srgbClr val="0F1115"/>
                </a:solidFill>
                <a:ea typeface="+mn-lt"/>
                <a:cs typeface="+mn-lt"/>
              </a:rPr>
              <a:t>Manual input of email and hourly rate</a:t>
            </a:r>
            <a:endParaRPr lang="en-GB" dirty="0"/>
          </a:p>
          <a:p>
            <a:r>
              <a:rPr lang="en-GB" sz="1200" dirty="0">
                <a:solidFill>
                  <a:srgbClr val="0F1115"/>
                </a:solidFill>
                <a:ea typeface="+mn-lt"/>
                <a:cs typeface="+mn-lt"/>
              </a:rPr>
              <a:t>No user validation</a:t>
            </a:r>
            <a:endParaRPr lang="en-GB" dirty="0"/>
          </a:p>
          <a:p>
            <a:r>
              <a:rPr lang="en-GB" sz="1200" dirty="0">
                <a:solidFill>
                  <a:srgbClr val="0F1115"/>
                </a:solidFill>
                <a:ea typeface="+mn-lt"/>
                <a:cs typeface="+mn-lt"/>
              </a:rPr>
              <a:t>Basic claim submission</a:t>
            </a:r>
            <a:endParaRPr lang="en-GB" dirty="0"/>
          </a:p>
          <a:p>
            <a:r>
              <a:rPr lang="en-GB" sz="1200" b="1" dirty="0">
                <a:solidFill>
                  <a:srgbClr val="0F1115"/>
                </a:solidFill>
                <a:ea typeface="+mn-lt"/>
                <a:cs typeface="+mn-lt"/>
              </a:rPr>
              <a:t>After (Part 3):</a:t>
            </a:r>
            <a:endParaRPr lang="en-GB" dirty="0"/>
          </a:p>
          <a:p>
            <a:r>
              <a:rPr lang="en-GB" sz="900" dirty="0" err="1">
                <a:solidFill>
                  <a:srgbClr val="0F1115"/>
                </a:solidFill>
                <a:ea typeface="+mn-lt"/>
                <a:cs typeface="+mn-lt"/>
              </a:rPr>
              <a:t>csharp</a:t>
            </a:r>
            <a:endParaRPr lang="en-GB" dirty="0" err="1"/>
          </a:p>
          <a:p>
            <a:r>
              <a:rPr lang="en-GB" sz="1000" i="1" dirty="0">
                <a:solidFill>
                  <a:srgbClr val="A0A1A7"/>
                </a:solidFill>
                <a:latin typeface="Consolas"/>
              </a:rPr>
              <a:t>// Auto-populated from user profile</a:t>
            </a:r>
            <a:r>
              <a:rPr lang="en-GB" sz="1000" dirty="0">
                <a:solidFill>
                  <a:srgbClr val="0F1115"/>
                </a:solidFill>
                <a:latin typeface="Consolas"/>
              </a:rPr>
              <a:t>
</a:t>
            </a:r>
            <a:r>
              <a:rPr lang="en-GB" sz="1000" dirty="0">
                <a:solidFill>
                  <a:srgbClr val="A626A4"/>
                </a:solidFill>
                <a:latin typeface="Consolas"/>
              </a:rPr>
              <a:t>var</a:t>
            </a:r>
            <a:r>
              <a:rPr lang="en-GB" sz="1000" dirty="0">
                <a:solidFill>
                  <a:srgbClr val="0F1115"/>
                </a:solidFill>
                <a:latin typeface="Consolas"/>
              </a:rPr>
              <a:t> model </a:t>
            </a:r>
            <a:r>
              <a:rPr lang="en-GB" sz="1000" dirty="0">
                <a:solidFill>
                  <a:srgbClr val="4078F2"/>
                </a:solidFill>
                <a:latin typeface="Consolas"/>
              </a:rPr>
              <a:t>=</a:t>
            </a:r>
            <a:r>
              <a:rPr lang="en-GB" sz="1000" dirty="0">
                <a:solidFill>
                  <a:srgbClr val="0F1115"/>
                </a:solidFill>
                <a:latin typeface="Consolas"/>
              </a:rPr>
              <a:t> </a:t>
            </a:r>
            <a:r>
              <a:rPr lang="en-GB" sz="1000" dirty="0">
                <a:solidFill>
                  <a:srgbClr val="A626A4"/>
                </a:solidFill>
                <a:latin typeface="Consolas"/>
              </a:rPr>
              <a:t>new</a:t>
            </a:r>
            <a:r>
              <a:rPr lang="en-GB" sz="1000" dirty="0">
                <a:solidFill>
                  <a:srgbClr val="0F1115"/>
                </a:solidFill>
                <a:latin typeface="Consolas"/>
              </a:rPr>
              <a:t> </a:t>
            </a:r>
            <a:r>
              <a:rPr lang="en-GB" sz="1000" dirty="0">
                <a:solidFill>
                  <a:srgbClr val="B76B01"/>
                </a:solidFill>
                <a:latin typeface="Consolas"/>
              </a:rPr>
              <a:t>ClaimCreateViewModel</a:t>
            </a:r>
            <a:r>
              <a:rPr lang="en-GB" sz="1000" dirty="0">
                <a:solidFill>
                  <a:srgbClr val="0F1115"/>
                </a:solidFill>
                <a:latin typeface="Consolas"/>
              </a:rPr>
              <a:t>
</a:t>
            </a:r>
            <a:r>
              <a:rPr lang="en-GB" sz="1000" dirty="0">
                <a:solidFill>
                  <a:srgbClr val="383A42"/>
                </a:solidFill>
                <a:latin typeface="Consolas"/>
              </a:rPr>
              <a:t>{</a:t>
            </a:r>
            <a:r>
              <a:rPr lang="en-GB" sz="1000" dirty="0">
                <a:solidFill>
                  <a:srgbClr val="0F1115"/>
                </a:solidFill>
                <a:latin typeface="Consolas"/>
              </a:rPr>
              <a:t>
    LecturerEmail </a:t>
            </a:r>
            <a:r>
              <a:rPr lang="en-GB" sz="1000" dirty="0">
                <a:solidFill>
                  <a:srgbClr val="4078F2"/>
                </a:solidFill>
                <a:latin typeface="Consolas"/>
              </a:rPr>
              <a:t>=</a:t>
            </a:r>
            <a:r>
              <a:rPr lang="en-GB" sz="1000" dirty="0">
                <a:solidFill>
                  <a:srgbClr val="0F1115"/>
                </a:solidFill>
                <a:latin typeface="Consolas"/>
              </a:rPr>
              <a:t> user</a:t>
            </a:r>
            <a:r>
              <a:rPr lang="en-GB" sz="1000" dirty="0">
                <a:solidFill>
                  <a:srgbClr val="383A42"/>
                </a:solidFill>
                <a:latin typeface="Consolas"/>
              </a:rPr>
              <a:t>.</a:t>
            </a:r>
            <a:r>
              <a:rPr lang="en-GB" sz="1000" dirty="0">
                <a:solidFill>
                  <a:srgbClr val="0F1115"/>
                </a:solidFill>
                <a:latin typeface="Consolas"/>
              </a:rPr>
              <a:t>Email</a:t>
            </a:r>
            <a:r>
              <a:rPr lang="en-GB" sz="1000" dirty="0">
                <a:solidFill>
                  <a:srgbClr val="383A42"/>
                </a:solidFill>
                <a:latin typeface="Consolas"/>
              </a:rPr>
              <a:t>,</a:t>
            </a:r>
            <a:r>
              <a:rPr lang="en-GB" sz="1000" dirty="0">
                <a:solidFill>
                  <a:srgbClr val="0F1115"/>
                </a:solidFill>
                <a:latin typeface="Consolas"/>
              </a:rPr>
              <a:t>
    LecturerName </a:t>
            </a:r>
            <a:r>
              <a:rPr lang="en-GB" sz="1000" dirty="0">
                <a:solidFill>
                  <a:srgbClr val="4078F2"/>
                </a:solidFill>
                <a:latin typeface="Consolas"/>
              </a:rPr>
              <a:t>=</a:t>
            </a:r>
            <a:r>
              <a:rPr lang="en-GB" sz="1000" dirty="0">
                <a:solidFill>
                  <a:srgbClr val="0F1115"/>
                </a:solidFill>
                <a:latin typeface="Consolas"/>
              </a:rPr>
              <a:t> </a:t>
            </a:r>
            <a:r>
              <a:rPr lang="en-GB" sz="1000" dirty="0">
                <a:solidFill>
                  <a:srgbClr val="50A14F"/>
                </a:solidFill>
                <a:latin typeface="Consolas"/>
              </a:rPr>
              <a:t>$"</a:t>
            </a:r>
            <a:r>
              <a:rPr lang="en-GB" sz="1000" dirty="0">
                <a:solidFill>
                  <a:srgbClr val="383A42"/>
                </a:solidFill>
                <a:latin typeface="Consolas"/>
              </a:rPr>
              <a:t>{</a:t>
            </a:r>
            <a:r>
              <a:rPr lang="en-GB" sz="1000" dirty="0">
                <a:solidFill>
                  <a:srgbClr val="0F1115"/>
                </a:solidFill>
                <a:latin typeface="Consolas"/>
              </a:rPr>
              <a:t>user</a:t>
            </a:r>
            <a:r>
              <a:rPr lang="en-GB" sz="1000" dirty="0">
                <a:solidFill>
                  <a:srgbClr val="383A42"/>
                </a:solidFill>
                <a:latin typeface="Consolas"/>
              </a:rPr>
              <a:t>.</a:t>
            </a:r>
            <a:r>
              <a:rPr lang="en-GB" sz="1000" dirty="0">
                <a:solidFill>
                  <a:srgbClr val="0F1115"/>
                </a:solidFill>
                <a:latin typeface="Consolas"/>
              </a:rPr>
              <a:t>Name</a:t>
            </a:r>
            <a:r>
              <a:rPr lang="en-GB" sz="1000" dirty="0">
                <a:solidFill>
                  <a:srgbClr val="383A42"/>
                </a:solidFill>
                <a:latin typeface="Consolas"/>
              </a:rPr>
              <a:t>}</a:t>
            </a:r>
            <a:r>
              <a:rPr lang="en-GB" sz="1000" dirty="0">
                <a:solidFill>
                  <a:srgbClr val="50A14F"/>
                </a:solidFill>
                <a:latin typeface="Consolas"/>
              </a:rPr>
              <a:t> </a:t>
            </a:r>
            <a:r>
              <a:rPr lang="en-GB" sz="1000" dirty="0">
                <a:solidFill>
                  <a:srgbClr val="383A42"/>
                </a:solidFill>
                <a:latin typeface="Consolas"/>
              </a:rPr>
              <a:t>{</a:t>
            </a:r>
            <a:r>
              <a:rPr lang="en-GB" sz="1000" dirty="0">
                <a:solidFill>
                  <a:srgbClr val="0F1115"/>
                </a:solidFill>
                <a:latin typeface="Consolas"/>
              </a:rPr>
              <a:t>user</a:t>
            </a:r>
            <a:r>
              <a:rPr lang="en-GB" sz="1000" dirty="0">
                <a:solidFill>
                  <a:srgbClr val="383A42"/>
                </a:solidFill>
                <a:latin typeface="Consolas"/>
              </a:rPr>
              <a:t>.</a:t>
            </a:r>
            <a:r>
              <a:rPr lang="en-GB" sz="1000" dirty="0">
                <a:solidFill>
                  <a:srgbClr val="0F1115"/>
                </a:solidFill>
                <a:latin typeface="Consolas"/>
              </a:rPr>
              <a:t>Surname</a:t>
            </a:r>
            <a:r>
              <a:rPr lang="en-GB" sz="1000" dirty="0">
                <a:solidFill>
                  <a:srgbClr val="383A42"/>
                </a:solidFill>
                <a:latin typeface="Consolas"/>
              </a:rPr>
              <a:t>}</a:t>
            </a:r>
            <a:r>
              <a:rPr lang="en-GB" sz="1000" dirty="0">
                <a:solidFill>
                  <a:srgbClr val="50A14F"/>
                </a:solidFill>
                <a:latin typeface="Consolas"/>
              </a:rPr>
              <a:t>"</a:t>
            </a:r>
            <a:r>
              <a:rPr lang="en-GB" sz="1000" dirty="0">
                <a:solidFill>
                  <a:srgbClr val="383A42"/>
                </a:solidFill>
                <a:latin typeface="Consolas"/>
              </a:rPr>
              <a:t>,</a:t>
            </a:r>
            <a:r>
              <a:rPr lang="en-GB" sz="1000" dirty="0">
                <a:solidFill>
                  <a:srgbClr val="0F1115"/>
                </a:solidFill>
                <a:latin typeface="Consolas"/>
              </a:rPr>
              <a:t>
    HourlyRate </a:t>
            </a:r>
            <a:r>
              <a:rPr lang="en-GB" sz="1000" dirty="0">
                <a:solidFill>
                  <a:srgbClr val="4078F2"/>
                </a:solidFill>
                <a:latin typeface="Consolas"/>
              </a:rPr>
              <a:t>=</a:t>
            </a:r>
            <a:r>
              <a:rPr lang="en-GB" sz="1000" dirty="0">
                <a:solidFill>
                  <a:srgbClr val="0F1115"/>
                </a:solidFill>
                <a:latin typeface="Consolas"/>
              </a:rPr>
              <a:t> user</a:t>
            </a:r>
            <a:r>
              <a:rPr lang="en-GB" sz="1000" dirty="0">
                <a:solidFill>
                  <a:srgbClr val="383A42"/>
                </a:solidFill>
                <a:latin typeface="Consolas"/>
              </a:rPr>
              <a:t>.</a:t>
            </a:r>
            <a:r>
              <a:rPr lang="en-GB" sz="1000" dirty="0">
                <a:solidFill>
                  <a:srgbClr val="0F1115"/>
                </a:solidFill>
                <a:latin typeface="Consolas"/>
              </a:rPr>
              <a:t>HourlyRate  </a:t>
            </a:r>
            <a:r>
              <a:rPr lang="en-GB" sz="1000" i="1" dirty="0">
                <a:solidFill>
                  <a:srgbClr val="A0A1A7"/>
                </a:solidFill>
                <a:latin typeface="Consolas"/>
              </a:rPr>
              <a:t>// From HR setting</a:t>
            </a:r>
            <a:r>
              <a:rPr lang="en-GB" sz="1000" dirty="0">
                <a:solidFill>
                  <a:srgbClr val="0F1115"/>
                </a:solidFill>
                <a:latin typeface="Consolas"/>
              </a:rPr>
              <a:t>
</a:t>
            </a:r>
            <a:r>
              <a:rPr lang="en-GB" sz="1000" dirty="0">
                <a:solidFill>
                  <a:srgbClr val="383A42"/>
                </a:solidFill>
                <a:latin typeface="Consolas"/>
              </a:rPr>
              <a:t>};</a:t>
            </a:r>
            <a:endParaRPr lang="en-GB" dirty="0"/>
          </a:p>
          <a:p>
            <a:r>
              <a:rPr lang="en-GB" sz="1200" b="1" dirty="0">
                <a:solidFill>
                  <a:srgbClr val="0F1115"/>
                </a:solidFill>
                <a:ea typeface="+mn-lt"/>
                <a:cs typeface="+mn-lt"/>
              </a:rPr>
              <a:t>New Features:</a:t>
            </a:r>
            <a:endParaRPr lang="en-GB" dirty="0"/>
          </a:p>
          <a:p>
            <a:r>
              <a:rPr lang="en-GB" sz="1200" dirty="0">
                <a:solidFill>
                  <a:srgbClr val="0F1115"/>
                </a:solidFill>
                <a:ea typeface="+mn-lt"/>
                <a:cs typeface="+mn-lt"/>
              </a:rPr>
              <a:t>Auto-calculation with user's hourly rate</a:t>
            </a:r>
            <a:endParaRPr lang="en-GB" dirty="0"/>
          </a:p>
          <a:p>
            <a:r>
              <a:rPr lang="en-GB" sz="1200" dirty="0">
                <a:solidFill>
                  <a:srgbClr val="0F1115"/>
                </a:solidFill>
                <a:ea typeface="+mn-lt"/>
                <a:cs typeface="+mn-lt"/>
              </a:rPr>
              <a:t>Monthly validation (180 hours max)</a:t>
            </a:r>
            <a:endParaRPr lang="en-GB" dirty="0"/>
          </a:p>
          <a:p>
            <a:r>
              <a:rPr lang="en-GB" sz="1200" dirty="0">
                <a:solidFill>
                  <a:srgbClr val="0F1115"/>
                </a:solidFill>
                <a:ea typeface="+mn-lt"/>
                <a:cs typeface="+mn-lt"/>
              </a:rPr>
              <a:t>Secure document upload</a:t>
            </a:r>
            <a:endParaRPr lang="en-GB" dirty="0"/>
          </a:p>
          <a:p>
            <a:r>
              <a:rPr lang="en-GB" sz="1200" dirty="0">
                <a:solidFill>
                  <a:srgbClr val="0F1115"/>
                </a:solidFill>
                <a:ea typeface="+mn-lt"/>
                <a:cs typeface="+mn-lt"/>
              </a:rPr>
              <a:t>Real-time claim tracking</a:t>
            </a:r>
            <a:endParaRPr lang="en-GB" dirty="0"/>
          </a:p>
          <a:p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98141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office theme</vt:lpstr>
      <vt:lpstr>Title: CMCS Claims System - Part 3  Presented by: Mukhethwa Murivhula Date: 21 November 2025 </vt:lpstr>
      <vt:lpstr>PowerPoint Presentation</vt:lpstr>
      <vt:lpstr>PowerPoint Presentation</vt:lpstr>
      <vt:lpstr>Snippet of my Login View Model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46</cp:revision>
  <dcterms:created xsi:type="dcterms:W3CDTF">2025-11-21T20:04:50Z</dcterms:created>
  <dcterms:modified xsi:type="dcterms:W3CDTF">2025-11-21T20:54:30Z</dcterms:modified>
</cp:coreProperties>
</file>